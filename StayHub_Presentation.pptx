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2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669280" cy="5669280"/>
          </a:xfrm>
          <a:prstGeom prst="ellipse">
            <a:avLst/>
          </a:prstGeom>
          <a:solidFill>
            <a:srgbClr val="0B3D3E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548640"/>
            <a:ext cx="3840480" cy="3840480"/>
          </a:xfrm>
          <a:prstGeom prst="ellipse">
            <a:avLst/>
          </a:prstGeom>
          <a:solidFill>
            <a:srgbClr val="0F4C4E"/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206240"/>
            <a:ext cx="4023360" cy="4023360"/>
          </a:xfrm>
          <a:prstGeom prst="ellipse">
            <a:avLst/>
          </a:prstGeom>
          <a:solidFill>
            <a:srgbClr val="0B3D3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NO. 15   ·   PG-DAC MARCH 2024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96596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StayHub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640080" y="32461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 Accommodation Booking and Management System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3913632"/>
            <a:ext cx="29260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1148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CF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multi-tenant web portal for student &amp; professional hostel discovery, room inventory allocation, and digital rent payment verification.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5257800"/>
            <a:ext cx="7315200" cy="1143000"/>
          </a:xfrm>
          <a:prstGeom prst="roundRect">
            <a:avLst>
              <a:gd name="adj" fmla="val 6400"/>
            </a:avLst>
          </a:prstGeom>
          <a:solidFill>
            <a:srgbClr val="0B3D3E"/>
          </a:solidFill>
          <a:ln/>
          <a:effectLst>
            <a:outerShdw sx="100000" sy="100000" kx="0" ky="0" algn="bl" rotWithShape="0" blurRad="76200" dist="25400" dir="5400000">
              <a:srgbClr val="1B3A3B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53949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568756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E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Member Names]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43400" y="53949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43400" y="5687568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DE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 for Advanced Computing and Software Development (IACSD), Akurdi, Pune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915400" y="1737360"/>
            <a:ext cx="2651760" cy="1170432"/>
          </a:xfrm>
          <a:prstGeom prst="roundRect">
            <a:avLst>
              <a:gd name="adj" fmla="val 6250"/>
            </a:avLst>
          </a:prstGeom>
          <a:solidFill>
            <a:srgbClr val="0B3D3E"/>
          </a:solidFill>
          <a:ln/>
          <a:effectLst>
            <a:outerShdw sx="100000" sy="100000" kx="0" ky="0" algn="bl" rotWithShape="0" blurRad="76200" dist="25400" dir="5400000">
              <a:srgbClr val="1B3A3B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144000" y="2093976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0" y="2093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784080" y="193852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PGs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784080" y="226771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BFD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search &amp; filters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915400" y="3154680"/>
            <a:ext cx="2651760" cy="1170432"/>
          </a:xfrm>
          <a:prstGeom prst="roundRect">
            <a:avLst>
              <a:gd name="adj" fmla="val 6250"/>
            </a:avLst>
          </a:prstGeom>
          <a:solidFill>
            <a:srgbClr val="0B3D3E"/>
          </a:solidFill>
          <a:ln/>
          <a:effectLst>
            <a:outerShdw sx="100000" sy="100000" kx="0" ky="0" algn="bl" rotWithShape="0" blurRad="76200" dist="25400" dir="5400000">
              <a:srgbClr val="1B3A3B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44000" y="3511296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0" y="3511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784080" y="335584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Room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784080" y="368503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BFD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bed availability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915400" y="4572000"/>
            <a:ext cx="2651760" cy="1170432"/>
          </a:xfrm>
          <a:prstGeom prst="roundRect">
            <a:avLst>
              <a:gd name="adj" fmla="val 6250"/>
            </a:avLst>
          </a:prstGeom>
          <a:solidFill>
            <a:srgbClr val="0B3D3E"/>
          </a:solidFill>
          <a:ln/>
          <a:effectLst>
            <a:outerShdw sx="100000" sy="100000" kx="0" ky="0" algn="bl" rotWithShape="0" blurRad="76200" dist="25400" dir="5400000">
              <a:srgbClr val="1B3A3B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144000" y="4928616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0" y="4928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784080" y="477316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Securely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784080" y="51023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BFD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+ HMAC verify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Problem StayHub Solves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246120" cy="4709160"/>
          </a:xfrm>
          <a:prstGeom prst="roundRect">
            <a:avLst>
              <a:gd name="adj" fmla="val 2254"/>
            </a:avLst>
          </a:prstGeom>
          <a:solidFill>
            <a:srgbClr val="F3F8F8"/>
          </a:solidFill>
          <a:ln/>
          <a:effectLst>
            <a:outerShdw sx="100000" sy="100000" kx="0" ky="0" algn="bl" rotWithShape="0" blurRad="76200" dist="25400" dir="5400000">
              <a:srgbClr val="1B3A3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0100" y="1623060"/>
            <a:ext cx="502920" cy="50292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6" name="Text 4"/>
          <p:cNvSpPr/>
          <p:nvPr/>
        </p:nvSpPr>
        <p:spPr>
          <a:xfrm>
            <a:off x="800100" y="16230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17320" y="163677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Tenants &amp; Professionals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468880"/>
            <a:ext cx="26974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200"/>
              </a:spcAft>
              <a:buSzPct val="100000"/>
              <a:buChar char="✗"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Unverified PG listings</a:t>
            </a:r>
            <a:endParaRPr lang="en-US" sz="1300" dirty="0"/>
          </a:p>
          <a:p>
            <a:pPr marL="342900" indent="-342900">
              <a:spcAft>
                <a:spcPts val="2200"/>
              </a:spcAft>
              <a:buSzPct val="100000"/>
              <a:buChar char="✗"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finding suitable stays</a:t>
            </a:r>
            <a:endParaRPr lang="en-US" sz="1300" dirty="0"/>
          </a:p>
          <a:p>
            <a:pPr marL="342900" indent="-342900">
              <a:spcAft>
                <a:spcPts val="2200"/>
              </a:spcAft>
              <a:buSzPct val="100000"/>
              <a:buChar char="✗"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booking issues</a:t>
            </a:r>
            <a:endParaRPr lang="en-US" sz="1300" dirty="0"/>
          </a:p>
          <a:p>
            <a:pPr marL="342900" indent="-342900">
              <a:spcAft>
                <a:spcPts val="2200"/>
              </a:spcAft>
              <a:buSzPct val="100000"/>
              <a:buChar char="✗"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rental costs</a:t>
            </a:r>
            <a:endParaRPr lang="en-US" sz="1300" dirty="0"/>
          </a:p>
          <a:p>
            <a:pPr marL="342900" indent="-342900">
              <a:spcAft>
                <a:spcPts val="2200"/>
              </a:spcAft>
              <a:buSzPct val="100000"/>
              <a:buChar char="✗"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digital payment verification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0" y="1417320"/>
            <a:ext cx="3246120" cy="4709160"/>
          </a:xfrm>
          <a:prstGeom prst="roundRect">
            <a:avLst>
              <a:gd name="adj" fmla="val 2254"/>
            </a:avLst>
          </a:prstGeom>
          <a:solidFill>
            <a:srgbClr val="F3F8F8"/>
          </a:solidFill>
          <a:ln/>
          <a:effectLst>
            <a:outerShdw sx="100000" sy="100000" kx="0" ky="0" algn="bl" rotWithShape="0" blurRad="76200" dist="25400" dir="5400000">
              <a:srgbClr val="1B3A3B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66260" y="1623060"/>
            <a:ext cx="502920" cy="502920"/>
          </a:xfrm>
          <a:prstGeom prst="ellipse">
            <a:avLst/>
          </a:prstGeom>
          <a:solidFill>
            <a:srgbClr val="D68A25"/>
          </a:solidFill>
          <a:ln/>
        </p:spPr>
      </p:sp>
      <p:sp>
        <p:nvSpPr>
          <p:cNvPr id="11" name="Text 9"/>
          <p:cNvSpPr/>
          <p:nvPr/>
        </p:nvSpPr>
        <p:spPr>
          <a:xfrm>
            <a:off x="4366260" y="16230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83480" y="163677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 Owners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34840" y="2468880"/>
            <a:ext cx="26974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200"/>
              </a:spcAft>
              <a:buSzPct val="100000"/>
              <a:buChar char="✗"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paper registers</a:t>
            </a:r>
            <a:endParaRPr lang="en-US" sz="1300" dirty="0"/>
          </a:p>
          <a:p>
            <a:pPr marL="342900" indent="-342900">
              <a:spcAft>
                <a:spcPts val="2200"/>
              </a:spcAft>
              <a:buSzPct val="100000"/>
              <a:buChar char="✗"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tenant management</a:t>
            </a:r>
            <a:endParaRPr lang="en-US" sz="1300" dirty="0"/>
          </a:p>
          <a:p>
            <a:pPr marL="342900" indent="-342900">
              <a:spcAft>
                <a:spcPts val="2200"/>
              </a:spcAft>
              <a:buSzPct val="100000"/>
              <a:buChar char="✗"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tracking problems</a:t>
            </a:r>
            <a:endParaRPr lang="en-US" sz="1300" dirty="0"/>
          </a:p>
          <a:p>
            <a:pPr marL="342900" indent="-342900">
              <a:spcAft>
                <a:spcPts val="2200"/>
              </a:spcAft>
              <a:buSzPct val="100000"/>
              <a:buChar char="✗"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into bed inventory</a:t>
            </a:r>
            <a:endParaRPr lang="en-US" sz="1300" dirty="0"/>
          </a:p>
          <a:p>
            <a:pPr marL="342900" indent="-342900">
              <a:spcAft>
                <a:spcPts val="2200"/>
              </a:spcAft>
              <a:buSzPct val="100000"/>
              <a:buChar char="✗"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Inefficient amenity handling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452360" y="3653028"/>
            <a:ext cx="685800" cy="237744"/>
          </a:xfrm>
          <a:prstGeom prst="rightArrow">
            <a:avLst/>
          </a:prstGeom>
          <a:solidFill>
            <a:srgbClr val="028090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0" y="1417320"/>
            <a:ext cx="3429000" cy="4709160"/>
          </a:xfrm>
          <a:prstGeom prst="roundRect">
            <a:avLst>
              <a:gd name="adj" fmla="val 2133"/>
            </a:avLst>
          </a:prstGeom>
          <a:solidFill>
            <a:srgbClr val="028090"/>
          </a:solidFill>
          <a:ln/>
          <a:effectLst>
            <a:outerShdw sx="100000" sy="100000" kx="0" ky="0" algn="bl" rotWithShape="0" blurRad="76200" dist="25400" dir="5400000">
              <a:srgbClr val="1B3A3B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81060" y="16230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8481060" y="16230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098280" y="163677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StayHub Solution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549640" y="2468880"/>
            <a:ext cx="29260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200"/>
              </a:spcAft>
              <a:buSzPct val="100000"/>
              <a:buChar char="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PG discovery platform</a:t>
            </a:r>
            <a:endParaRPr lang="en-US" sz="1300" dirty="0"/>
          </a:p>
          <a:p>
            <a:pPr marL="342900" indent="-342900">
              <a:spcAft>
                <a:spcPts val="2200"/>
              </a:spcAft>
              <a:buSzPct val="100000"/>
              <a:buChar char="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room inventory tracking</a:t>
            </a:r>
            <a:endParaRPr lang="en-US" sz="1300" dirty="0"/>
          </a:p>
          <a:p>
            <a:pPr marL="342900" indent="-342900">
              <a:spcAft>
                <a:spcPts val="2200"/>
              </a:spcAft>
              <a:buSzPct val="100000"/>
              <a:buChar char="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amenity management</a:t>
            </a:r>
            <a:endParaRPr lang="en-US" sz="1300" dirty="0"/>
          </a:p>
          <a:p>
            <a:pPr marL="342900" indent="-342900">
              <a:spcAft>
                <a:spcPts val="2200"/>
              </a:spcAft>
              <a:buSzPct val="100000"/>
              <a:buChar char="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online payments</a:t>
            </a:r>
            <a:endParaRPr lang="en-US" sz="1300" dirty="0"/>
          </a:p>
          <a:p>
            <a:pPr marL="342900" indent="-342900">
              <a:spcAft>
                <a:spcPts val="2200"/>
              </a:spcAft>
              <a:buSzPct val="100000"/>
              <a:buChar char="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admin governance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StayHub — PG Accommodation Booking &amp; Management System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Scope &amp; Core Objectives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User Roles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331720" cy="1645920"/>
          </a:xfrm>
          <a:prstGeom prst="roundRect">
            <a:avLst>
              <a:gd name="adj" fmla="val 4444"/>
            </a:avLst>
          </a:prstGeom>
          <a:solidFill>
            <a:srgbClr val="F3F8F8"/>
          </a:solidFill>
          <a:ln/>
          <a:effectLst>
            <a:outerShdw sx="100000" sy="100000" kx="0" ky="0" algn="bl" rotWithShape="0" blurRad="76200" dist="25400" dir="5400000">
              <a:srgbClr val="1B3A3B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05740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743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/ Tenant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30358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Discover, book &amp; pay for PG stays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063240" y="1828800"/>
            <a:ext cx="2331720" cy="1645920"/>
          </a:xfrm>
          <a:prstGeom prst="roundRect">
            <a:avLst>
              <a:gd name="adj" fmla="val 4444"/>
            </a:avLst>
          </a:prstGeom>
          <a:solidFill>
            <a:srgbClr val="F3F8F8"/>
          </a:solidFill>
          <a:ln/>
          <a:effectLst>
            <a:outerShdw sx="100000" sy="100000" kx="0" ky="0" algn="bl" rotWithShape="0" blurRad="76200" dist="25400" dir="5400000">
              <a:srgbClr val="1B3A3B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205740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291840" y="2743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 Owner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30358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properties, manage rooms &amp; amenities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577840" y="1828800"/>
            <a:ext cx="2331720" cy="1645920"/>
          </a:xfrm>
          <a:prstGeom prst="roundRect">
            <a:avLst>
              <a:gd name="adj" fmla="val 4444"/>
            </a:avLst>
          </a:prstGeom>
          <a:solidFill>
            <a:srgbClr val="F3F8F8"/>
          </a:solidFill>
          <a:ln/>
          <a:effectLst>
            <a:outerShdw sx="100000" sy="100000" kx="0" ky="0" algn="bl" rotWithShape="0" blurRad="76200" dist="25400" dir="5400000">
              <a:srgbClr val="1B3A3B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06440" y="205740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580644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806440" y="2743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806440" y="30358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 users, owners &amp; platform health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3794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Objectives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4251960"/>
            <a:ext cx="2560320" cy="685800"/>
          </a:xfrm>
          <a:prstGeom prst="roundRect">
            <a:avLst>
              <a:gd name="adj" fmla="val 8000"/>
            </a:avLst>
          </a:prstGeom>
          <a:solidFill>
            <a:srgbClr val="F3F8F8"/>
          </a:solidFill>
          <a:ln w="12700">
            <a:solidFill>
              <a:srgbClr val="D8E7E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9808" y="4430268"/>
            <a:ext cx="329184" cy="32918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749808" y="44302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43000" y="42519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 search by city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91840" y="4251960"/>
            <a:ext cx="2560320" cy="685800"/>
          </a:xfrm>
          <a:prstGeom prst="roundRect">
            <a:avLst>
              <a:gd name="adj" fmla="val 8000"/>
            </a:avLst>
          </a:prstGeom>
          <a:solidFill>
            <a:srgbClr val="F3F8F8"/>
          </a:solidFill>
          <a:ln w="12700">
            <a:solidFill>
              <a:srgbClr val="D8E7E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93008" y="4430268"/>
            <a:ext cx="329184" cy="32918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7" name="Text 25"/>
          <p:cNvSpPr/>
          <p:nvPr/>
        </p:nvSpPr>
        <p:spPr>
          <a:xfrm>
            <a:off x="3493008" y="44302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886200" y="42519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sharing filters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35040" y="4251960"/>
            <a:ext cx="2560320" cy="685800"/>
          </a:xfrm>
          <a:prstGeom prst="roundRect">
            <a:avLst>
              <a:gd name="adj" fmla="val 8000"/>
            </a:avLst>
          </a:prstGeom>
          <a:solidFill>
            <a:srgbClr val="F3F8F8"/>
          </a:solidFill>
          <a:ln w="12700">
            <a:solidFill>
              <a:srgbClr val="D8E7E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36208" y="4430268"/>
            <a:ext cx="329184" cy="32918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1" name="Text 29"/>
          <p:cNvSpPr/>
          <p:nvPr/>
        </p:nvSpPr>
        <p:spPr>
          <a:xfrm>
            <a:off x="6236208" y="44302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629400" y="42519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bed availability tracking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778240" y="4251960"/>
            <a:ext cx="2560320" cy="685800"/>
          </a:xfrm>
          <a:prstGeom prst="roundRect">
            <a:avLst>
              <a:gd name="adj" fmla="val 8000"/>
            </a:avLst>
          </a:prstGeom>
          <a:solidFill>
            <a:srgbClr val="F3F8F8"/>
          </a:solidFill>
          <a:ln w="12700">
            <a:solidFill>
              <a:srgbClr val="D8E7E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979408" y="4430268"/>
            <a:ext cx="329184" cy="32918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5" name="Text 33"/>
          <p:cNvSpPr/>
          <p:nvPr/>
        </p:nvSpPr>
        <p:spPr>
          <a:xfrm>
            <a:off x="8979408" y="44302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372600" y="42519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Amenity management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8640" y="5120640"/>
            <a:ext cx="2560320" cy="685800"/>
          </a:xfrm>
          <a:prstGeom prst="roundRect">
            <a:avLst>
              <a:gd name="adj" fmla="val 8000"/>
            </a:avLst>
          </a:prstGeom>
          <a:solidFill>
            <a:srgbClr val="F3F8F8"/>
          </a:solidFill>
          <a:ln w="12700">
            <a:solidFill>
              <a:srgbClr val="D8E7E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9808" y="5298948"/>
            <a:ext cx="329184" cy="32918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9" name="Text 37"/>
          <p:cNvSpPr/>
          <p:nvPr/>
        </p:nvSpPr>
        <p:spPr>
          <a:xfrm>
            <a:off x="749808" y="52989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143000" y="51206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management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291840" y="5120640"/>
            <a:ext cx="2560320" cy="685800"/>
          </a:xfrm>
          <a:prstGeom prst="roundRect">
            <a:avLst>
              <a:gd name="adj" fmla="val 8000"/>
            </a:avLst>
          </a:prstGeom>
          <a:solidFill>
            <a:srgbClr val="F3F8F8"/>
          </a:solidFill>
          <a:ln w="12700">
            <a:solidFill>
              <a:srgbClr val="D8E7E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493008" y="5298948"/>
            <a:ext cx="329184" cy="32918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3" name="Text 41"/>
          <p:cNvSpPr/>
          <p:nvPr/>
        </p:nvSpPr>
        <p:spPr>
          <a:xfrm>
            <a:off x="3493008" y="52989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3886200" y="51206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verification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035040" y="5120640"/>
            <a:ext cx="2560320" cy="685800"/>
          </a:xfrm>
          <a:prstGeom prst="roundRect">
            <a:avLst>
              <a:gd name="adj" fmla="val 8000"/>
            </a:avLst>
          </a:prstGeom>
          <a:solidFill>
            <a:srgbClr val="F3F8F8"/>
          </a:solidFill>
          <a:ln w="12700">
            <a:solidFill>
              <a:srgbClr val="D8E7E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236208" y="5298948"/>
            <a:ext cx="329184" cy="32918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7" name="Text 45"/>
          <p:cNvSpPr/>
          <p:nvPr/>
        </p:nvSpPr>
        <p:spPr>
          <a:xfrm>
            <a:off x="6236208" y="52989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629400" y="51206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monitoring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StayHub — PG Accommodation Booking &amp; Management System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System Architecture &amp; 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4206240" cy="566928"/>
          </a:xfrm>
          <a:prstGeom prst="roundRect">
            <a:avLst>
              <a:gd name="adj" fmla="val 11290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1732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23744" y="2002536"/>
            <a:ext cx="256032" cy="219456"/>
          </a:xfrm>
          <a:prstGeom prst="downArrow">
            <a:avLst/>
          </a:prstGeom>
          <a:solidFill>
            <a:srgbClr val="5B7B7E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240280"/>
            <a:ext cx="4206240" cy="566928"/>
          </a:xfrm>
          <a:prstGeom prst="roundRect">
            <a:avLst>
              <a:gd name="adj" fmla="val 11290"/>
            </a:avLst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24028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REST Communication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23744" y="2825496"/>
            <a:ext cx="256032" cy="219456"/>
          </a:xfrm>
          <a:prstGeom prst="downArrow">
            <a:avLst/>
          </a:prstGeom>
          <a:solidFill>
            <a:srgbClr val="5B7B7E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3063240"/>
            <a:ext cx="4206240" cy="566928"/>
          </a:xfrm>
          <a:prstGeom prst="roundRect">
            <a:avLst>
              <a:gd name="adj" fmla="val 11290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06324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Backend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523744" y="3648456"/>
            <a:ext cx="256032" cy="219456"/>
          </a:xfrm>
          <a:prstGeom prst="downArrow">
            <a:avLst/>
          </a:prstGeom>
          <a:solidFill>
            <a:srgbClr val="5B7B7E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886200"/>
            <a:ext cx="4206240" cy="566928"/>
          </a:xfrm>
          <a:prstGeom prst="roundRect">
            <a:avLst>
              <a:gd name="adj" fmla="val 11290"/>
            </a:avLst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88620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 / Hibernate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523744" y="4471416"/>
            <a:ext cx="256032" cy="219456"/>
          </a:xfrm>
          <a:prstGeom prst="downArrow">
            <a:avLst/>
          </a:prstGeom>
          <a:solidFill>
            <a:srgbClr val="5B7B7E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4709160"/>
            <a:ext cx="4206240" cy="566928"/>
          </a:xfrm>
          <a:prstGeom prst="roundRect">
            <a:avLst>
              <a:gd name="adj" fmla="val 11290"/>
            </a:avLst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70916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74920" y="1417320"/>
            <a:ext cx="6583680" cy="658368"/>
          </a:xfrm>
          <a:prstGeom prst="roundRect">
            <a:avLst>
              <a:gd name="adj" fmla="val 11111"/>
            </a:avLst>
          </a:prstGeom>
          <a:solidFill>
            <a:srgbClr val="F3F8F8"/>
          </a:solidFill>
          <a:ln w="12700">
            <a:solidFill>
              <a:srgbClr val="D8E7E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74920" y="1417320"/>
            <a:ext cx="6583680" cy="658368"/>
          </a:xfrm>
          <a:prstGeom prst="roundRect">
            <a:avLst>
              <a:gd name="adj" fmla="val 9722"/>
            </a:avLst>
          </a:prstGeom>
          <a:solidFill>
            <a:srgbClr val="F3F8F8"/>
          </a:solidFill>
          <a:ln w="12700">
            <a:solidFill>
              <a:srgbClr val="D8E7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0" y="141732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720840" y="1417320"/>
            <a:ext cx="4800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· Vite · JavaScript ES6+ · Axios · Vanilla CSS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74920" y="2217420"/>
            <a:ext cx="65836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8E7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74920" y="2217420"/>
            <a:ext cx="658368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8E7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0" y="221742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720840" y="2217420"/>
            <a:ext cx="4800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 · Spring Boot 3.5 · Spring Security · Hibernate ORM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74920" y="3017520"/>
            <a:ext cx="6583680" cy="658368"/>
          </a:xfrm>
          <a:prstGeom prst="roundRect">
            <a:avLst>
              <a:gd name="adj" fmla="val 11111"/>
            </a:avLst>
          </a:prstGeom>
          <a:solidFill>
            <a:srgbClr val="F3F8F8"/>
          </a:solidFill>
          <a:ln w="12700">
            <a:solidFill>
              <a:srgbClr val="D8E7E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74920" y="3017520"/>
            <a:ext cx="6583680" cy="658368"/>
          </a:xfrm>
          <a:prstGeom prst="roundRect">
            <a:avLst>
              <a:gd name="adj" fmla="val 9722"/>
            </a:avLst>
          </a:prstGeom>
          <a:solidFill>
            <a:srgbClr val="F3F8F8"/>
          </a:solidFill>
          <a:ln w="12700">
            <a:solidFill>
              <a:srgbClr val="D8E7E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0" y="301752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720840" y="3017520"/>
            <a:ext cx="4800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074920" y="3817620"/>
            <a:ext cx="65836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8E7E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74920" y="3817620"/>
            <a:ext cx="658368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8E7E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03520" y="381762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720840" y="3817620"/>
            <a:ext cx="4800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 · BCrypt Password Encoding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074920" y="4617720"/>
            <a:ext cx="6583680" cy="658368"/>
          </a:xfrm>
          <a:prstGeom prst="roundRect">
            <a:avLst>
              <a:gd name="adj" fmla="val 11111"/>
            </a:avLst>
          </a:prstGeom>
          <a:solidFill>
            <a:srgbClr val="F3F8F8"/>
          </a:solidFill>
          <a:ln w="12700">
            <a:solidFill>
              <a:srgbClr val="D8E7E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74920" y="4617720"/>
            <a:ext cx="6583680" cy="658368"/>
          </a:xfrm>
          <a:prstGeom prst="roundRect">
            <a:avLst>
              <a:gd name="adj" fmla="val 9722"/>
            </a:avLst>
          </a:prstGeom>
          <a:solidFill>
            <a:srgbClr val="F3F8F8"/>
          </a:solidFill>
          <a:ln w="12700">
            <a:solidFill>
              <a:srgbClr val="D8E7E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03520" y="461772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720840" y="4617720"/>
            <a:ext cx="4800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Integration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StayHub — PG Accommodation Booking &amp; Management System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Role-Based Access Control (RBAC)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11880" cy="685800"/>
          </a:xfrm>
          <a:prstGeom prst="roundRect">
            <a:avLst>
              <a:gd name="adj" fmla="val 9333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1732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3611880" cy="3931920"/>
          </a:xfrm>
          <a:prstGeom prst="roundRect">
            <a:avLst>
              <a:gd name="adj" fmla="val 2025"/>
            </a:avLst>
          </a:prstGeom>
          <a:solidFill>
            <a:srgbClr val="F3F8F8"/>
          </a:solidFill>
          <a:ln/>
          <a:effectLst>
            <a:outerShdw sx="100000" sy="100000" kx="0" ky="0" algn="bl" rotWithShape="0" blurRad="76200" dist="25400" dir="5400000">
              <a:srgbClr val="1B3A3B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514600"/>
            <a:ext cx="2971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PG listings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rooms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rooms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payments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bookings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stays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1417320"/>
            <a:ext cx="3611880" cy="685800"/>
          </a:xfrm>
          <a:prstGeom prst="roundRect">
            <a:avLst>
              <a:gd name="adj" fmla="val 9333"/>
            </a:avLst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4343400" y="141732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 Owner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43400" y="2240280"/>
            <a:ext cx="3611880" cy="3931920"/>
          </a:xfrm>
          <a:prstGeom prst="roundRect">
            <a:avLst>
              <a:gd name="adj" fmla="val 2025"/>
            </a:avLst>
          </a:prstGeom>
          <a:solidFill>
            <a:srgbClr val="F3F8F8"/>
          </a:solidFill>
          <a:ln/>
          <a:effectLst>
            <a:outerShdw sx="100000" sy="100000" kx="0" ky="0" algn="bl" rotWithShape="0" blurRad="76200" dist="25400" dir="5400000">
              <a:srgbClr val="1B3A3B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2514600"/>
            <a:ext cx="2971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PG properties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rooms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amenities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images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bookings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38160" y="1417320"/>
            <a:ext cx="3611880" cy="685800"/>
          </a:xfrm>
          <a:prstGeom prst="roundRect">
            <a:avLst>
              <a:gd name="adj" fmla="val 9333"/>
            </a:avLst>
          </a:prstGeom>
          <a:solidFill>
            <a:srgbClr val="0B3D3E"/>
          </a:solidFill>
          <a:ln/>
        </p:spPr>
      </p:sp>
      <p:sp>
        <p:nvSpPr>
          <p:cNvPr id="13" name="Text 11"/>
          <p:cNvSpPr/>
          <p:nvPr/>
        </p:nvSpPr>
        <p:spPr>
          <a:xfrm>
            <a:off x="8138160" y="141732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38160" y="2240280"/>
            <a:ext cx="3611880" cy="3931920"/>
          </a:xfrm>
          <a:prstGeom prst="roundRect">
            <a:avLst>
              <a:gd name="adj" fmla="val 2025"/>
            </a:avLst>
          </a:prstGeom>
          <a:solidFill>
            <a:srgbClr val="F3F8F8"/>
          </a:solidFill>
          <a:ln/>
          <a:effectLst>
            <a:outerShdw sx="100000" sy="100000" kx="0" ky="0" algn="bl" rotWithShape="0" blurRad="76200" dist="25400" dir="5400000">
              <a:srgbClr val="1B3A3B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458200" y="2514600"/>
            <a:ext cx="2971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owners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passwords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platform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users safely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StayHub — PG Accommodation Booking &amp; Management System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Software Requirement Specification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69748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7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" y="1947672"/>
            <a:ext cx="237744" cy="23774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722376" y="19476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82880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29000" y="1828800"/>
            <a:ext cx="269748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7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02736" y="1947672"/>
            <a:ext cx="237744" cy="23774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3602736" y="19476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931920" y="182880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inventory management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2450592"/>
            <a:ext cx="269748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7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2376" y="2569464"/>
            <a:ext cx="237744" cy="23774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722376" y="25694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245059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Amenity management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429000" y="2450592"/>
            <a:ext cx="269748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7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02736" y="2569464"/>
            <a:ext cx="237744" cy="23774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3602736" y="25694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931920" y="245059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payment creation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3072384"/>
            <a:ext cx="269748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7E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2376" y="3191256"/>
            <a:ext cx="237744" cy="23774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722376" y="319125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51560" y="307238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verification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429000" y="3072384"/>
            <a:ext cx="269748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7E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02736" y="3191256"/>
            <a:ext cx="237744" cy="23774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3602736" y="319125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931920" y="307238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cancellation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3694176"/>
            <a:ext cx="269748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7E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3813048"/>
            <a:ext cx="237744" cy="23774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1" name="Text 29"/>
          <p:cNvSpPr/>
          <p:nvPr/>
        </p:nvSpPr>
        <p:spPr>
          <a:xfrm>
            <a:off x="722376" y="38130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51560" y="3694176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 deletion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00800" y="1371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400800" y="1828800"/>
            <a:ext cx="5212080" cy="475488"/>
          </a:xfrm>
          <a:prstGeom prst="roundRect">
            <a:avLst>
              <a:gd name="adj" fmla="val 11538"/>
            </a:avLst>
          </a:prstGeom>
          <a:solidFill>
            <a:srgbClr val="F3F8F8"/>
          </a:solidFill>
          <a:ln/>
        </p:spPr>
      </p:sp>
      <p:sp>
        <p:nvSpPr>
          <p:cNvPr id="35" name="Shape 33"/>
          <p:cNvSpPr/>
          <p:nvPr/>
        </p:nvSpPr>
        <p:spPr>
          <a:xfrm>
            <a:off x="6601968" y="1947672"/>
            <a:ext cx="237744" cy="23774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6" name="Text 34"/>
          <p:cNvSpPr/>
          <p:nvPr/>
        </p:nvSpPr>
        <p:spPr>
          <a:xfrm>
            <a:off x="6601968" y="19476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995160" y="1828800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API response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400800" y="2450592"/>
            <a:ext cx="5212080" cy="475488"/>
          </a:xfrm>
          <a:prstGeom prst="roundRect">
            <a:avLst>
              <a:gd name="adj" fmla="val 11538"/>
            </a:avLst>
          </a:prstGeom>
          <a:solidFill>
            <a:srgbClr val="F3F8F8"/>
          </a:solidFill>
          <a:ln/>
        </p:spPr>
      </p:sp>
      <p:sp>
        <p:nvSpPr>
          <p:cNvPr id="39" name="Shape 37"/>
          <p:cNvSpPr/>
          <p:nvPr/>
        </p:nvSpPr>
        <p:spPr>
          <a:xfrm>
            <a:off x="6601968" y="2569464"/>
            <a:ext cx="237744" cy="23774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0" name="Text 38"/>
          <p:cNvSpPr/>
          <p:nvPr/>
        </p:nvSpPr>
        <p:spPr>
          <a:xfrm>
            <a:off x="6601968" y="25694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995160" y="2450592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optimization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400800" y="3072384"/>
            <a:ext cx="5212080" cy="475488"/>
          </a:xfrm>
          <a:prstGeom prst="roundRect">
            <a:avLst>
              <a:gd name="adj" fmla="val 11538"/>
            </a:avLst>
          </a:prstGeom>
          <a:solidFill>
            <a:srgbClr val="F3F8F8"/>
          </a:solidFill>
          <a:ln/>
        </p:spPr>
      </p:sp>
      <p:sp>
        <p:nvSpPr>
          <p:cNvPr id="43" name="Shape 41"/>
          <p:cNvSpPr/>
          <p:nvPr/>
        </p:nvSpPr>
        <p:spPr>
          <a:xfrm>
            <a:off x="6601968" y="3191256"/>
            <a:ext cx="237744" cy="23774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4" name="Text 42"/>
          <p:cNvSpPr/>
          <p:nvPr/>
        </p:nvSpPr>
        <p:spPr>
          <a:xfrm>
            <a:off x="6601968" y="319125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995160" y="3072384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exception handling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6400800" y="3694176"/>
            <a:ext cx="5212080" cy="475488"/>
          </a:xfrm>
          <a:prstGeom prst="roundRect">
            <a:avLst>
              <a:gd name="adj" fmla="val 11538"/>
            </a:avLst>
          </a:prstGeom>
          <a:solidFill>
            <a:srgbClr val="F3F8F8"/>
          </a:solidFill>
          <a:ln/>
        </p:spPr>
      </p:sp>
      <p:sp>
        <p:nvSpPr>
          <p:cNvPr id="47" name="Shape 45"/>
          <p:cNvSpPr/>
          <p:nvPr/>
        </p:nvSpPr>
        <p:spPr>
          <a:xfrm>
            <a:off x="6601968" y="3813048"/>
            <a:ext cx="237744" cy="23774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8" name="Text 46"/>
          <p:cNvSpPr/>
          <p:nvPr/>
        </p:nvSpPr>
        <p:spPr>
          <a:xfrm>
            <a:off x="6601968" y="38130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6995160" y="3694176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reliability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6400800" y="4434840"/>
            <a:ext cx="5212080" cy="1691640"/>
          </a:xfrm>
          <a:prstGeom prst="roundRect">
            <a:avLst>
              <a:gd name="adj" fmla="val 4324"/>
            </a:avLst>
          </a:prstGeom>
          <a:solidFill>
            <a:srgbClr val="042A2B"/>
          </a:solidFill>
          <a:ln/>
          <a:effectLst>
            <a:outerShdw sx="100000" sy="100000" kx="0" ky="0" algn="bl" rotWithShape="0" blurRad="76200" dist="25400" dir="5400000">
              <a:srgbClr val="1B3A3B">
                <a:alpha val="18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6675120" y="46177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6675120" y="4956048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DDE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these requirements ensure StayHub stays fast under concurrent bookings, keeps financial data consistent, and degrades gracefully under failure — critical for a live payments platform.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StayHub — PG Accommodation Booking &amp; Management System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Database Design &amp; ER Diagram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659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834640" y="1965960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2834640" y="19659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PgListing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120640" y="1463040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120640" y="14630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120640" y="2103120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0" y="21031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Amenity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120640" y="2743200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0" y="27432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ListingImage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834640" y="3566160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2834640" y="35661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120640" y="3566160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120640" y="35661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240280" y="2194560"/>
            <a:ext cx="594360" cy="0"/>
          </a:xfrm>
          <a:prstGeom prst="line">
            <a:avLst/>
          </a:prstGeom>
          <a:noFill/>
          <a:ln w="19050">
            <a:solidFill>
              <a:srgbClr val="5B7B7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71700" y="2066544"/>
            <a:ext cx="73152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26280" y="1691640"/>
            <a:ext cx="594360" cy="0"/>
          </a:xfrm>
          <a:prstGeom prst="line">
            <a:avLst/>
          </a:prstGeom>
          <a:noFill/>
          <a:ln w="19050">
            <a:solidFill>
              <a:srgbClr val="5B7B7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57700" y="1563624"/>
            <a:ext cx="73152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26280" y="2194560"/>
            <a:ext cx="594360" cy="137160"/>
          </a:xfrm>
          <a:prstGeom prst="line">
            <a:avLst/>
          </a:prstGeom>
          <a:noFill/>
          <a:ln w="19050">
            <a:solidFill>
              <a:srgbClr val="5B7B7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57700" y="2135124"/>
            <a:ext cx="73152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26280" y="2377440"/>
            <a:ext cx="594360" cy="594360"/>
          </a:xfrm>
          <a:prstGeom prst="line">
            <a:avLst/>
          </a:prstGeom>
          <a:noFill/>
          <a:ln w="19050">
            <a:solidFill>
              <a:srgbClr val="5B7B7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57700" y="2546604"/>
            <a:ext cx="73152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371600" y="2423160"/>
            <a:ext cx="0" cy="1371600"/>
          </a:xfrm>
          <a:prstGeom prst="line">
            <a:avLst/>
          </a:prstGeom>
          <a:noFill/>
          <a:ln w="19050">
            <a:solidFill>
              <a:srgbClr val="5B7B7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71600" y="3794760"/>
            <a:ext cx="1463040" cy="0"/>
          </a:xfrm>
          <a:prstGeom prst="line">
            <a:avLst/>
          </a:prstGeom>
          <a:noFill/>
          <a:ln w="19050">
            <a:solidFill>
              <a:srgbClr val="5B7B7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737360" y="3666744"/>
            <a:ext cx="73152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657600" y="2423160"/>
            <a:ext cx="0" cy="1143000"/>
          </a:xfrm>
          <a:prstGeom prst="line">
            <a:avLst/>
          </a:prstGeom>
          <a:noFill/>
          <a:ln w="19050">
            <a:solidFill>
              <a:srgbClr val="5B7B7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0" y="2866644"/>
            <a:ext cx="73152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526280" y="3794760"/>
            <a:ext cx="594360" cy="0"/>
          </a:xfrm>
          <a:prstGeom prst="line">
            <a:avLst/>
          </a:prstGeom>
          <a:noFill/>
          <a:ln w="19050">
            <a:solidFill>
              <a:srgbClr val="5B7B7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57700" y="3666744"/>
            <a:ext cx="73152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48640" y="434340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→ Booking (1:N)   |   Room → Booking (1:N)   |   Booking ↔ Payment (1:1)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360920" y="1417320"/>
            <a:ext cx="4297680" cy="4480560"/>
          </a:xfrm>
          <a:prstGeom prst="roundRect">
            <a:avLst>
              <a:gd name="adj" fmla="val 1702"/>
            </a:avLst>
          </a:prstGeom>
          <a:solidFill>
            <a:srgbClr val="042A2B"/>
          </a:solidFill>
          <a:ln/>
          <a:effectLst>
            <a:outerShdw sx="100000" sy="100000" kx="0" ky="0" algn="bl" rotWithShape="0" blurRad="76200" dist="25400" dir="5400000">
              <a:srgbClr val="1B3A3B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635240" y="164592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Unidirectional JPA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Relationship Design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635240" y="2606040"/>
            <a:ext cx="3749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▸"/>
            </a:pPr>
            <a:r>
              <a:rPr lang="en-US" sz="1200" dirty="0">
                <a:solidFill>
                  <a:srgbClr val="E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entities maintain the foreign-key references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▸"/>
            </a:pPr>
            <a:r>
              <a:rPr lang="en-US" sz="1200" dirty="0">
                <a:solidFill>
                  <a:srgbClr val="E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entities avoid collection mappings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▸"/>
            </a:pPr>
            <a:r>
              <a:rPr lang="en-US" sz="1200" dirty="0">
                <a:solidFill>
                  <a:srgbClr val="E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JSON infinite recursion on serialization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▸"/>
            </a:pPr>
            <a:r>
              <a:rPr lang="en-US" sz="1200" dirty="0">
                <a:solidFill>
                  <a:srgbClr val="E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REST API performance &amp; payload size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StayHub — PG Accommodation Booking &amp; Management System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DIAGRAMS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Use Case &amp; Data Flow Diagram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 — Actors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0200" y="208483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828800"/>
            <a:ext cx="914400" cy="9144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3246120" y="1828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297680" y="208483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 Owner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880360"/>
            <a:ext cx="914400" cy="914400"/>
          </a:xfrm>
          <a:prstGeom prst="ellipse">
            <a:avLst/>
          </a:prstGeom>
          <a:solidFill>
            <a:srgbClr val="0B3D3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8803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00200" y="313639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46120" y="2880360"/>
            <a:ext cx="914400" cy="914400"/>
          </a:xfrm>
          <a:prstGeom prst="ellipse">
            <a:avLst/>
          </a:prstGeom>
          <a:solidFill>
            <a:srgbClr val="D68A25"/>
          </a:solidFill>
          <a:ln/>
        </p:spPr>
      </p:sp>
      <p:sp>
        <p:nvSpPr>
          <p:cNvPr id="15" name="Text 13"/>
          <p:cNvSpPr/>
          <p:nvPr/>
        </p:nvSpPr>
        <p:spPr>
          <a:xfrm>
            <a:off x="3246120" y="28803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297680" y="313639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Gateway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0" y="13716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Diagram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0" y="1828800"/>
            <a:ext cx="5212080" cy="502920"/>
          </a:xfrm>
          <a:prstGeom prst="roundRect">
            <a:avLst>
              <a:gd name="adj" fmla="val 14545"/>
            </a:avLst>
          </a:prstGeom>
          <a:solidFill>
            <a:srgbClr val="042A2B"/>
          </a:solidFill>
          <a:ln/>
          <a:effectLst>
            <a:outerShdw sx="100000" sy="100000" kx="0" ky="0" algn="bl" rotWithShape="0" blurRad="76200" dist="25400" dir="5400000">
              <a:srgbClr val="1B3A3B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0" y="182880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0 — StayHub System Context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878824" y="2377440"/>
            <a:ext cx="256032" cy="201168"/>
          </a:xfrm>
          <a:prstGeom prst="downArrow">
            <a:avLst/>
          </a:prstGeom>
          <a:solidFill>
            <a:srgbClr val="5B7B7E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0" y="2697480"/>
            <a:ext cx="1627632" cy="685800"/>
          </a:xfrm>
          <a:prstGeom prst="roundRect">
            <a:avLst>
              <a:gd name="adj" fmla="val 12000"/>
            </a:avLst>
          </a:prstGeom>
          <a:solidFill>
            <a:srgbClr val="F3F8F8"/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2697480"/>
            <a:ext cx="1627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183880" y="2697480"/>
            <a:ext cx="1627632" cy="685800"/>
          </a:xfrm>
          <a:prstGeom prst="roundRect">
            <a:avLst>
              <a:gd name="adj" fmla="val 12000"/>
            </a:avLst>
          </a:prstGeom>
          <a:solidFill>
            <a:srgbClr val="F3F8F8"/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83880" y="2697480"/>
            <a:ext cx="1627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Mgmt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966960" y="2697480"/>
            <a:ext cx="1627632" cy="685800"/>
          </a:xfrm>
          <a:prstGeom prst="roundRect">
            <a:avLst>
              <a:gd name="adj" fmla="val 12000"/>
            </a:avLst>
          </a:prstGeom>
          <a:solidFill>
            <a:srgbClr val="F3F8F8"/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966960" y="2697480"/>
            <a:ext cx="1627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Engine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00800" y="3566160"/>
            <a:ext cx="1627632" cy="685800"/>
          </a:xfrm>
          <a:prstGeom prst="roundRect">
            <a:avLst>
              <a:gd name="adj" fmla="val 12000"/>
            </a:avLst>
          </a:prstGeom>
          <a:solidFill>
            <a:srgbClr val="F3F8F8"/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3566160"/>
            <a:ext cx="1627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Engine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83880" y="3566160"/>
            <a:ext cx="1627632" cy="685800"/>
          </a:xfrm>
          <a:prstGeom prst="roundRect">
            <a:avLst>
              <a:gd name="adj" fmla="val 12000"/>
            </a:avLst>
          </a:prstGeom>
          <a:solidFill>
            <a:srgbClr val="F3F8F8"/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83880" y="3566160"/>
            <a:ext cx="1627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Verify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966960" y="3566160"/>
            <a:ext cx="1627632" cy="685800"/>
          </a:xfrm>
          <a:prstGeom prst="roundRect">
            <a:avLst>
              <a:gd name="adj" fmla="val 12000"/>
            </a:avLst>
          </a:prstGeom>
          <a:solidFill>
            <a:srgbClr val="F3F8F8"/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966960" y="3566160"/>
            <a:ext cx="1627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Governance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00800" y="45262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Processes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507492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042A2B"/>
          </a:solidFill>
          <a:ln/>
          <a:effectLst>
            <a:outerShdw sx="100000" sy="100000" kx="0" ky="0" algn="bl" rotWithShape="0" blurRad="76200" dist="25400" dir="5400000">
              <a:srgbClr val="1B3A3B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22960" y="50749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E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actor in the Use Case Diagram maps directly onto a Level-1 process in the Data Flow Diagram — keeping design and implementation traceable end-to-end.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StayHub — PG Accommodation Booking &amp; Management System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Booking Sequence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16940" y="1792224"/>
            <a:ext cx="621792" cy="6217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716940" y="179222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4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2514600"/>
            <a:ext cx="132415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525321" y="1984248"/>
            <a:ext cx="310896" cy="237744"/>
          </a:xfrm>
          <a:prstGeom prst="rightArrow">
            <a:avLst/>
          </a:prstGeom>
          <a:solidFill>
            <a:srgbClr val="5B7B7E"/>
          </a:solidFill>
          <a:ln/>
        </p:spPr>
      </p:sp>
      <p:sp>
        <p:nvSpPr>
          <p:cNvPr id="8" name="Shape 6"/>
          <p:cNvSpPr/>
          <p:nvPr/>
        </p:nvSpPr>
        <p:spPr>
          <a:xfrm>
            <a:off x="1949653" y="1792224"/>
            <a:ext cx="621792" cy="6217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1949653" y="179222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44193" y="2514600"/>
            <a:ext cx="132415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UI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58034" y="1984248"/>
            <a:ext cx="310896" cy="237744"/>
          </a:xfrm>
          <a:prstGeom prst="rightArrow">
            <a:avLst/>
          </a:prstGeom>
          <a:solidFill>
            <a:srgbClr val="5B7B7E"/>
          </a:solidFill>
          <a:ln/>
        </p:spPr>
      </p:sp>
      <p:sp>
        <p:nvSpPr>
          <p:cNvPr id="12" name="Shape 10"/>
          <p:cNvSpPr/>
          <p:nvPr/>
        </p:nvSpPr>
        <p:spPr>
          <a:xfrm>
            <a:off x="3182366" y="1792224"/>
            <a:ext cx="621792" cy="6217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3182366" y="179222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876906" y="2514600"/>
            <a:ext cx="132415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Controller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990746" y="1984248"/>
            <a:ext cx="310896" cy="237744"/>
          </a:xfrm>
          <a:prstGeom prst="rightArrow">
            <a:avLst/>
          </a:prstGeom>
          <a:solidFill>
            <a:srgbClr val="5B7B7E"/>
          </a:solidFill>
          <a:ln/>
        </p:spPr>
      </p:sp>
      <p:sp>
        <p:nvSpPr>
          <p:cNvPr id="16" name="Shape 14"/>
          <p:cNvSpPr/>
          <p:nvPr/>
        </p:nvSpPr>
        <p:spPr>
          <a:xfrm>
            <a:off x="4415079" y="1792224"/>
            <a:ext cx="621792" cy="6217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4415079" y="179222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109618" y="2514600"/>
            <a:ext cx="132415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Service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223459" y="1984248"/>
            <a:ext cx="310896" cy="237744"/>
          </a:xfrm>
          <a:prstGeom prst="rightArrow">
            <a:avLst/>
          </a:prstGeom>
          <a:solidFill>
            <a:srgbClr val="5B7B7E"/>
          </a:solidFill>
          <a:ln/>
        </p:spPr>
      </p:sp>
      <p:sp>
        <p:nvSpPr>
          <p:cNvPr id="20" name="Shape 18"/>
          <p:cNvSpPr/>
          <p:nvPr/>
        </p:nvSpPr>
        <p:spPr>
          <a:xfrm>
            <a:off x="5647792" y="1792224"/>
            <a:ext cx="621792" cy="6217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5647792" y="179222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42331" y="2514600"/>
            <a:ext cx="132415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Availability Update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56172" y="1984248"/>
            <a:ext cx="310896" cy="237744"/>
          </a:xfrm>
          <a:prstGeom prst="rightArrow">
            <a:avLst/>
          </a:prstGeom>
          <a:solidFill>
            <a:srgbClr val="5B7B7E"/>
          </a:solidFill>
          <a:ln/>
        </p:spPr>
      </p:sp>
      <p:sp>
        <p:nvSpPr>
          <p:cNvPr id="24" name="Shape 22"/>
          <p:cNvSpPr/>
          <p:nvPr/>
        </p:nvSpPr>
        <p:spPr>
          <a:xfrm>
            <a:off x="6880504" y="1792224"/>
            <a:ext cx="621792" cy="6217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6880504" y="179222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575044" y="2514600"/>
            <a:ext cx="132415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Service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688885" y="1984248"/>
            <a:ext cx="310896" cy="237744"/>
          </a:xfrm>
          <a:prstGeom prst="rightArrow">
            <a:avLst/>
          </a:prstGeom>
          <a:solidFill>
            <a:srgbClr val="5B7B7E"/>
          </a:solidFill>
          <a:ln/>
        </p:spPr>
      </p:sp>
      <p:sp>
        <p:nvSpPr>
          <p:cNvPr id="28" name="Shape 26"/>
          <p:cNvSpPr/>
          <p:nvPr/>
        </p:nvSpPr>
        <p:spPr>
          <a:xfrm>
            <a:off x="8113217" y="1792224"/>
            <a:ext cx="621792" cy="6217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9" name="Text 27"/>
          <p:cNvSpPr/>
          <p:nvPr/>
        </p:nvSpPr>
        <p:spPr>
          <a:xfrm>
            <a:off x="8113217" y="179222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807757" y="2514600"/>
            <a:ext cx="132415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921598" y="1984248"/>
            <a:ext cx="310896" cy="237744"/>
          </a:xfrm>
          <a:prstGeom prst="rightArrow">
            <a:avLst/>
          </a:prstGeom>
          <a:solidFill>
            <a:srgbClr val="5B7B7E"/>
          </a:solidFill>
          <a:ln/>
        </p:spPr>
      </p:sp>
      <p:sp>
        <p:nvSpPr>
          <p:cNvPr id="32" name="Shape 30"/>
          <p:cNvSpPr/>
          <p:nvPr/>
        </p:nvSpPr>
        <p:spPr>
          <a:xfrm>
            <a:off x="9345930" y="1792224"/>
            <a:ext cx="621792" cy="6217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3" name="Text 31"/>
          <p:cNvSpPr/>
          <p:nvPr/>
        </p:nvSpPr>
        <p:spPr>
          <a:xfrm>
            <a:off x="9345930" y="179222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040470" y="2514600"/>
            <a:ext cx="132415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Verification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10154310" y="1984248"/>
            <a:ext cx="310896" cy="237744"/>
          </a:xfrm>
          <a:prstGeom prst="rightArrow">
            <a:avLst/>
          </a:prstGeom>
          <a:solidFill>
            <a:srgbClr val="5B7B7E"/>
          </a:solidFill>
          <a:ln/>
        </p:spPr>
      </p:sp>
      <p:sp>
        <p:nvSpPr>
          <p:cNvPr id="36" name="Shape 34"/>
          <p:cNvSpPr/>
          <p:nvPr/>
        </p:nvSpPr>
        <p:spPr>
          <a:xfrm>
            <a:off x="10578643" y="1792224"/>
            <a:ext cx="621792" cy="6217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7" name="Text 35"/>
          <p:cNvSpPr/>
          <p:nvPr/>
        </p:nvSpPr>
        <p:spPr>
          <a:xfrm>
            <a:off x="10578643" y="179222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4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0273182" y="2514600"/>
            <a:ext cx="132415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Confirmation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48640" y="4023360"/>
            <a:ext cx="11064240" cy="1965960"/>
          </a:xfrm>
          <a:prstGeom prst="roundRect">
            <a:avLst>
              <a:gd name="adj" fmla="val 3721"/>
            </a:avLst>
          </a:prstGeom>
          <a:solidFill>
            <a:srgbClr val="042A2B"/>
          </a:solidFill>
          <a:ln/>
          <a:effectLst>
            <a:outerShdw sx="100000" sy="100000" kx="0" ky="0" algn="bl" rotWithShape="0" blurRad="76200" dist="25400" dir="5400000">
              <a:srgbClr val="1B3A3B">
                <a:alpha val="1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822960" y="4206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Highlight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22960" y="4553712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customer confirms a booking, room availability is decremented before payment is initiated, guaranteeing no bed is double-booked. Razorpay returns a signed response, and the backend performs an HMAC SHA-256 verification before the booking is finally confirmed — ensuring both inventory and payment integrity in a single atomic workflow.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StayHub — PG Accommodation Booking &amp; Management System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Class &amp; Component Diagram — Layered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492240" cy="777240"/>
          </a:xfrm>
          <a:prstGeom prst="roundRect">
            <a:avLst>
              <a:gd name="adj" fmla="val 9412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Layer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11880" y="14173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A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REST endpoints; handles requests &amp; responses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66744" y="2212848"/>
            <a:ext cx="256032" cy="201168"/>
          </a:xfrm>
          <a:prstGeom prst="downArrow">
            <a:avLst/>
          </a:prstGeom>
          <a:solidFill>
            <a:srgbClr val="5B7B7E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468880"/>
            <a:ext cx="6492240" cy="777240"/>
          </a:xfrm>
          <a:prstGeom prst="roundRect">
            <a:avLst>
              <a:gd name="adj" fmla="val 9412"/>
            </a:avLst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4688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11880" y="246888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A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logic, transaction boundaries, validation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66744" y="3264408"/>
            <a:ext cx="256032" cy="201168"/>
          </a:xfrm>
          <a:prstGeom prst="downArrow">
            <a:avLst/>
          </a:prstGeom>
          <a:solidFill>
            <a:srgbClr val="5B7B7E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3520440"/>
            <a:ext cx="6492240" cy="777240"/>
          </a:xfrm>
          <a:prstGeom prst="roundRect">
            <a:avLst>
              <a:gd name="adj" fmla="val 9412"/>
            </a:avLst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52044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Layer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11880" y="35204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A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 repositories for persistence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66744" y="4315968"/>
            <a:ext cx="256032" cy="201168"/>
          </a:xfrm>
          <a:prstGeom prst="downArrow">
            <a:avLst/>
          </a:prstGeom>
          <a:solidFill>
            <a:srgbClr val="5B7B7E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4572000"/>
            <a:ext cx="6492240" cy="777240"/>
          </a:xfrm>
          <a:prstGeom prst="roundRect">
            <a:avLst>
              <a:gd name="adj" fmla="val 9412"/>
            </a:avLst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57200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Layer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11880" y="45720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A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schema — entities &amp; relationships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360920" y="14173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Building Blocks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60920" y="1874520"/>
            <a:ext cx="4297680" cy="502920"/>
          </a:xfrm>
          <a:prstGeom prst="roundRect">
            <a:avLst>
              <a:gd name="adj" fmla="val 10909"/>
            </a:avLst>
          </a:prstGeom>
          <a:solidFill>
            <a:srgbClr val="F3F8F8"/>
          </a:solidFill>
          <a:ln w="12700">
            <a:solidFill>
              <a:srgbClr val="D8E7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62088" y="1988820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7562088" y="19888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73568" y="18745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60920" y="2532888"/>
            <a:ext cx="4297680" cy="502920"/>
          </a:xfrm>
          <a:prstGeom prst="roundRect">
            <a:avLst>
              <a:gd name="adj" fmla="val 10909"/>
            </a:avLst>
          </a:prstGeom>
          <a:solidFill>
            <a:srgbClr val="F3F8F8"/>
          </a:solidFill>
          <a:ln w="12700">
            <a:solidFill>
              <a:srgbClr val="D8E7E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62088" y="2647188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7562088" y="26471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973568" y="253288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360920" y="3191256"/>
            <a:ext cx="4297680" cy="502920"/>
          </a:xfrm>
          <a:prstGeom prst="roundRect">
            <a:avLst>
              <a:gd name="adj" fmla="val 10909"/>
            </a:avLst>
          </a:prstGeom>
          <a:solidFill>
            <a:srgbClr val="F3F8F8"/>
          </a:solidFill>
          <a:ln w="12700">
            <a:solidFill>
              <a:srgbClr val="D8E7E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62088" y="3305556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0" name="Text 28"/>
          <p:cNvSpPr/>
          <p:nvPr/>
        </p:nvSpPr>
        <p:spPr>
          <a:xfrm>
            <a:off x="7562088" y="33055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973568" y="319125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360920" y="3849624"/>
            <a:ext cx="4297680" cy="502920"/>
          </a:xfrm>
          <a:prstGeom prst="roundRect">
            <a:avLst>
              <a:gd name="adj" fmla="val 10909"/>
            </a:avLst>
          </a:prstGeom>
          <a:solidFill>
            <a:srgbClr val="F3F8F8"/>
          </a:solidFill>
          <a:ln w="12700">
            <a:solidFill>
              <a:srgbClr val="D8E7E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62088" y="3963924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4" name="Text 32"/>
          <p:cNvSpPr/>
          <p:nvPr/>
        </p:nvSpPr>
        <p:spPr>
          <a:xfrm>
            <a:off x="7562088" y="39639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973568" y="384962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Repositories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360920" y="4507992"/>
            <a:ext cx="4297680" cy="502920"/>
          </a:xfrm>
          <a:prstGeom prst="roundRect">
            <a:avLst>
              <a:gd name="adj" fmla="val 10909"/>
            </a:avLst>
          </a:prstGeom>
          <a:solidFill>
            <a:srgbClr val="F3F8F8"/>
          </a:solidFill>
          <a:ln w="12700">
            <a:solidFill>
              <a:srgbClr val="D8E7E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562088" y="4622292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8" name="Text 36"/>
          <p:cNvSpPr/>
          <p:nvPr/>
        </p:nvSpPr>
        <p:spPr>
          <a:xfrm>
            <a:off x="7562088" y="46222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973568" y="450799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Components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StayHub — PG Accommodation Booking &amp; Management System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HIGHLIGHT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Search &amp; Inventory Engine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3F8F8"/>
          </a:solidFill>
          <a:ln w="12700">
            <a:solidFill>
              <a:srgbClr val="D8E7E7"/>
            </a:solidFill>
            <a:prstDash val="solid"/>
          </a:ln>
          <a:effectLst>
            <a:outerShdw sx="100000" sy="100000" kx="0" ky="0" algn="bl" rotWithShape="0" blurRad="76200" dist="25400" dir="5400000">
              <a:srgbClr val="1B3A3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4592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158191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City-Based Search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08760" y="1883664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PGs filtered by city and locality in real time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72200" y="146304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7E7"/>
            </a:solidFill>
            <a:prstDash val="solid"/>
          </a:ln>
          <a:effectLst>
            <a:outerShdw sx="100000" sy="100000" kx="0" ky="0" algn="bl" rotWithShape="0" blurRad="76200" dist="25400" dir="5400000">
              <a:srgbClr val="1B3A3B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0" y="164592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32320" y="158191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Type Filters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132320" y="1883664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single, double, triple or dormitory sharing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51460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3F8F8"/>
          </a:solidFill>
          <a:ln w="12700">
            <a:solidFill>
              <a:srgbClr val="D8E7E7"/>
            </a:solidFill>
            <a:prstDash val="solid"/>
          </a:ln>
          <a:effectLst>
            <a:outerShdw sx="100000" sy="100000" kx="0" ky="0" algn="bl" rotWithShape="0" blurRad="76200" dist="25400" dir="5400000">
              <a:srgbClr val="1B3A3B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269748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08760" y="263347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Bed Availability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508760" y="2935224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reflects the true, current inventory state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72200" y="251460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7E7"/>
            </a:solidFill>
            <a:prstDash val="solid"/>
          </a:ln>
          <a:effectLst>
            <a:outerShdw sx="100000" sy="100000" kx="0" ky="0" algn="bl" rotWithShape="0" blurRad="76200" dist="25400" dir="5400000">
              <a:srgbClr val="1B3A3B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0" y="269748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32320" y="263347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Bed Decrement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32320" y="2935224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bookings instantly reduce open bed count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56616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3F8F8"/>
          </a:solidFill>
          <a:ln w="12700">
            <a:solidFill>
              <a:srgbClr val="D8E7E7"/>
            </a:solidFill>
            <a:prstDash val="solid"/>
          </a:ln>
          <a:effectLst>
            <a:outerShdw sx="100000" sy="100000" kx="0" ky="0" algn="bl" rotWithShape="0" blurRad="76200" dist="25400" dir="5400000">
              <a:srgbClr val="1B3A3B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7240" y="37490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508760" y="368503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Validation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508760" y="3986784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booking beyond available capacity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4617720"/>
            <a:ext cx="11064240" cy="1508760"/>
          </a:xfrm>
          <a:prstGeom prst="roundRect">
            <a:avLst>
              <a:gd name="adj" fmla="val 4848"/>
            </a:avLst>
          </a:prstGeom>
          <a:solidFill>
            <a:srgbClr val="042A2B"/>
          </a:solidFill>
          <a:ln/>
          <a:effectLst>
            <a:outerShdw sx="100000" sy="100000" kx="0" ky="0" algn="bl" rotWithShape="0" blurRad="76200" dist="25400" dir="5400000">
              <a:srgbClr val="1B3A3B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22960" y="47731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Inventory Snapshot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" y="5120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128 PGs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822960" y="5623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520440" y="5120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342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3520440" y="5623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Beds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217920" y="5120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27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6217920" y="5623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Booked Today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915400" y="5120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180ms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8915400" y="5623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Response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StayHub — PG Accommodation Booking &amp; Management System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HIGHLIGHT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Amenity Management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Preset amenity chips let PG owners describe a property in seconds with consistent, searchable tags.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417320" cy="594360"/>
          </a:xfrm>
          <a:prstGeom prst="roundRect">
            <a:avLst>
              <a:gd name="adj" fmla="val 49231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1168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167128" y="2011680"/>
            <a:ext cx="1417320" cy="594360"/>
          </a:xfrm>
          <a:prstGeom prst="roundRect">
            <a:avLst>
              <a:gd name="adj" fmla="val 49231"/>
            </a:avLst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2167128" y="201168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785616" y="2011680"/>
            <a:ext cx="1417320" cy="594360"/>
          </a:xfrm>
          <a:prstGeom prst="roundRect">
            <a:avLst>
              <a:gd name="adj" fmla="val 49231"/>
            </a:avLst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3785616" y="201168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04104" y="2011680"/>
            <a:ext cx="1417320" cy="594360"/>
          </a:xfrm>
          <a:prstGeom prst="roundRect">
            <a:avLst>
              <a:gd name="adj" fmla="val 49231"/>
            </a:avLst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5404104" y="201168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Laundry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022592" y="2011680"/>
            <a:ext cx="1417320" cy="594360"/>
          </a:xfrm>
          <a:prstGeom prst="roundRect">
            <a:avLst>
              <a:gd name="adj" fmla="val 49231"/>
            </a:avLst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7022592" y="201168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641080" y="2011680"/>
            <a:ext cx="1417320" cy="594360"/>
          </a:xfrm>
          <a:prstGeom prst="roundRect">
            <a:avLst>
              <a:gd name="adj" fmla="val 49231"/>
            </a:avLst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8641080" y="201168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0259568" y="2011680"/>
            <a:ext cx="1417320" cy="594360"/>
          </a:xfrm>
          <a:prstGeom prst="roundRect">
            <a:avLst>
              <a:gd name="adj" fmla="val 49231"/>
            </a:avLst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10259568" y="201168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063240"/>
            <a:ext cx="3474720" cy="3063240"/>
          </a:xfrm>
          <a:prstGeom prst="roundRect">
            <a:avLst>
              <a:gd name="adj" fmla="val 2388"/>
            </a:avLst>
          </a:prstGeom>
          <a:solidFill>
            <a:srgbClr val="F3F8F8"/>
          </a:solidFill>
          <a:ln/>
          <a:effectLst>
            <a:outerShdw sx="100000" sy="100000" kx="0" ky="0" algn="bl" rotWithShape="0" blurRad="76200" dist="25400" dir="5400000">
              <a:srgbClr val="1B3A3B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324612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2960" y="38862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Selection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434340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toggle amenities on/off instantly while listing a property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251960" y="3063240"/>
            <a:ext cx="3474720" cy="3063240"/>
          </a:xfrm>
          <a:prstGeom prst="roundRect">
            <a:avLst>
              <a:gd name="adj" fmla="val 2388"/>
            </a:avLst>
          </a:prstGeom>
          <a:solidFill>
            <a:srgbClr val="F3F8F8"/>
          </a:solidFill>
          <a:ln/>
          <a:effectLst>
            <a:outerShdw sx="100000" sy="100000" kx="0" ky="0" algn="bl" rotWithShape="0" blurRad="76200" dist="25400" dir="5400000">
              <a:srgbClr val="1B3A3B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80560" y="324612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448056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526280" y="38862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Badges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26280" y="434340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Chips render consistently across listing cards and detail pages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955280" y="3063240"/>
            <a:ext cx="3474720" cy="3063240"/>
          </a:xfrm>
          <a:prstGeom prst="roundRect">
            <a:avLst>
              <a:gd name="adj" fmla="val 2388"/>
            </a:avLst>
          </a:prstGeom>
          <a:solidFill>
            <a:srgbClr val="F3F8F8"/>
          </a:solidFill>
          <a:ln/>
          <a:effectLst>
            <a:outerShdw sx="100000" sy="100000" kx="0" ky="0" algn="bl" rotWithShape="0" blurRad="76200" dist="25400" dir="5400000">
              <a:srgbClr val="1B3A3B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183880" y="324612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1" name="Text 29"/>
          <p:cNvSpPr/>
          <p:nvPr/>
        </p:nvSpPr>
        <p:spPr>
          <a:xfrm>
            <a:off x="818388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229600" y="38862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Owner-Specific Management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229600" y="434340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owner controls amenities independently per property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StayHub — PG Accommodation Booking &amp; Management System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HIGHLIGHT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Admin Dashboard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042A2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0"/>
            <a:ext cx="1691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 Owners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23160" y="182880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042A2B"/>
          </a:solidFill>
          <a:ln/>
        </p:spPr>
      </p:sp>
      <p:sp>
        <p:nvSpPr>
          <p:cNvPr id="8" name="Text 6"/>
          <p:cNvSpPr/>
          <p:nvPr/>
        </p:nvSpPr>
        <p:spPr>
          <a:xfrm>
            <a:off x="2423160" y="1828800"/>
            <a:ext cx="1691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82880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042A2B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0" y="1828800"/>
            <a:ext cx="1691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200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2697480" cy="548640"/>
          </a:xfrm>
          <a:prstGeom prst="roundRect">
            <a:avLst>
              <a:gd name="adj" fmla="val 13333"/>
            </a:avLst>
          </a:prstGeom>
          <a:solidFill>
            <a:srgbClr val="F3F8F8"/>
          </a:solidFill>
          <a:ln/>
          <a:effectLst>
            <a:outerShdw sx="100000" sy="100000" kx="0" ky="0" algn="bl" rotWithShape="0" blurRad="76200" dist="25400" dir="5400000">
              <a:srgbClr val="1B3A3B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58952" y="3776472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" y="3776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36576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429000" y="3657600"/>
            <a:ext cx="2697480" cy="548640"/>
          </a:xfrm>
          <a:prstGeom prst="roundRect">
            <a:avLst>
              <a:gd name="adj" fmla="val 13333"/>
            </a:avLst>
          </a:prstGeom>
          <a:solidFill>
            <a:srgbClr val="F3F8F8"/>
          </a:solidFill>
          <a:ln/>
          <a:effectLst>
            <a:outerShdw sx="100000" sy="100000" kx="0" ky="0" algn="bl" rotWithShape="0" blurRad="76200" dist="25400" dir="5400000">
              <a:srgbClr val="1B3A3B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39312" y="3776472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3639312" y="3776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069080" y="36576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reset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389120"/>
            <a:ext cx="2697480" cy="548640"/>
          </a:xfrm>
          <a:prstGeom prst="roundRect">
            <a:avLst>
              <a:gd name="adj" fmla="val 13333"/>
            </a:avLst>
          </a:prstGeom>
          <a:solidFill>
            <a:srgbClr val="F3F8F8"/>
          </a:solidFill>
          <a:ln/>
          <a:effectLst>
            <a:outerShdw sx="100000" sy="100000" kx="0" ky="0" algn="bl" rotWithShape="0" blurRad="76200" dist="25400" dir="5400000">
              <a:srgbClr val="1B3A3B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58952" y="4507992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758952" y="4507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88720" y="43891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monitoring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429000" y="4389120"/>
            <a:ext cx="2697480" cy="548640"/>
          </a:xfrm>
          <a:prstGeom prst="roundRect">
            <a:avLst>
              <a:gd name="adj" fmla="val 13333"/>
            </a:avLst>
          </a:prstGeom>
          <a:solidFill>
            <a:srgbClr val="F3F8F8"/>
          </a:solidFill>
          <a:ln/>
          <a:effectLst>
            <a:outerShdw sx="100000" sy="100000" kx="0" ky="0" algn="bl" rotWithShape="0" blurRad="76200" dist="25400" dir="5400000">
              <a:srgbClr val="1B3A3B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39312" y="4507992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3639312" y="4507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069080" y="43891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deletion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5074920"/>
            <a:ext cx="5212080" cy="914400"/>
          </a:xfrm>
          <a:prstGeom prst="roundRect">
            <a:avLst>
              <a:gd name="adj" fmla="val 8000"/>
            </a:avLst>
          </a:prstGeom>
          <a:solidFill>
            <a:srgbClr val="F3F8F8"/>
          </a:solidFill>
          <a:ln/>
          <a:effectLst>
            <a:outerShdw sx="100000" sy="100000" kx="0" ky="0" algn="bl" rotWithShape="0" blurRad="76200" dist="25400" dir="5400000">
              <a:srgbClr val="1B3A3B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22960" y="507492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admin action is scoped, logged and reversible — the dashboard is the single control plane for platform trust.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400800" y="1371600"/>
            <a:ext cx="5212080" cy="4617720"/>
          </a:xfrm>
          <a:prstGeom prst="roundRect">
            <a:avLst>
              <a:gd name="adj" fmla="val 1584"/>
            </a:avLst>
          </a:prstGeom>
          <a:solidFill>
            <a:srgbClr val="028090"/>
          </a:solidFill>
          <a:ln/>
          <a:effectLst>
            <a:outerShdw sx="100000" sy="100000" kx="0" ky="0" algn="bl" rotWithShape="0" blurRad="76200" dist="25400" dir="5400000">
              <a:srgbClr val="1B3A3B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675120" y="16002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Platform Governance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6675120" y="210312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A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Administrators sit above owners and customers, with full visibility into platform activity and the ability to intervene safely — resetting credentials, monitoring usage, and removing bad actors without breaking referential integrity across bookings, payments and listings.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675120" y="3749040"/>
            <a:ext cx="4663440" cy="0"/>
          </a:xfrm>
          <a:prstGeom prst="line">
            <a:avLst/>
          </a:prstGeom>
          <a:noFill/>
          <a:ln w="12700">
            <a:solidFill>
              <a:srgbClr val="00A89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393192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“Secure deletion” is transactional — see Slide 15 for the full governance flow.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StayHub — PG Accommodation Booking &amp; Management System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Payment &amp; Booking Management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Workflow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94960" cy="56692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929384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29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182880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Order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86384" y="2414016"/>
            <a:ext cx="256032" cy="164592"/>
          </a:xfrm>
          <a:prstGeom prst="downArrow">
            <a:avLst/>
          </a:prstGeom>
          <a:solidFill>
            <a:srgbClr val="5B7B7E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596896"/>
            <a:ext cx="5394960" cy="56692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269748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34440" y="2596896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86384" y="3182112"/>
            <a:ext cx="256032" cy="164592"/>
          </a:xfrm>
          <a:prstGeom prst="downArrow">
            <a:avLst/>
          </a:prstGeom>
          <a:solidFill>
            <a:srgbClr val="5B7B7E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3364992"/>
            <a:ext cx="5394960" cy="56692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3465576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465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3364992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Signature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86384" y="3950208"/>
            <a:ext cx="256032" cy="164592"/>
          </a:xfrm>
          <a:prstGeom prst="downArrow">
            <a:avLst/>
          </a:prstGeom>
          <a:solidFill>
            <a:srgbClr val="5B7B7E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4133088"/>
            <a:ext cx="5394960" cy="56692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4233672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233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34440" y="413308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 SHA-256 Verification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86384" y="4718304"/>
            <a:ext cx="256032" cy="164592"/>
          </a:xfrm>
          <a:prstGeom prst="downArrow">
            <a:avLst/>
          </a:prstGeom>
          <a:solidFill>
            <a:srgbClr val="5B7B7E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4901184"/>
            <a:ext cx="5394960" cy="56692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26" name="Shape 24"/>
          <p:cNvSpPr/>
          <p:nvPr/>
        </p:nvSpPr>
        <p:spPr>
          <a:xfrm>
            <a:off x="731520" y="5001768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5001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234440" y="4901184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4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Booking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400800" y="1371600"/>
            <a:ext cx="5212080" cy="2331720"/>
          </a:xfrm>
          <a:prstGeom prst="roundRect">
            <a:avLst>
              <a:gd name="adj" fmla="val 3137"/>
            </a:avLst>
          </a:prstGeom>
          <a:solidFill>
            <a:srgbClr val="042A2B"/>
          </a:solidFill>
          <a:ln/>
          <a:effectLst>
            <a:outerShdw sx="100000" sy="100000" kx="0" ky="0" algn="bl" rotWithShape="0" blurRad="76200" dist="25400" dir="5400000">
              <a:srgbClr val="1B3A3B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675120" y="15544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Delete on Cancellation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675120" y="1965960"/>
            <a:ext cx="4663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cancelled booking is never hard-deleted from the ledger. Instead, its status flips to ‘cancelled’ and the associated room’s bed availability is automatically restored — preserving history for audit while freeing inventory instantly.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400800" y="3886200"/>
            <a:ext cx="5212080" cy="2103120"/>
          </a:xfrm>
          <a:prstGeom prst="roundRect">
            <a:avLst>
              <a:gd name="adj" fmla="val 3478"/>
            </a:avLst>
          </a:prstGeom>
          <a:solidFill>
            <a:srgbClr val="F3F8F8"/>
          </a:solidFill>
          <a:ln/>
          <a:effectLst>
            <a:outerShdw sx="100000" sy="100000" kx="0" ky="0" algn="bl" rotWithShape="0" blurRad="76200" dist="25400" dir="5400000">
              <a:srgbClr val="1B3A3B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675120" y="40690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HMAC SHA-256?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675120" y="4462272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signs each payment response with a secret key. StayHub recomputes the signature server-side and compares it before confirming a booking — this guarantees the payment callback genuinely came from Razorpay and wasn't tampered with in transit.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StayHub — PG Accommodation Booking &amp; Management System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Database Governance &amp; Transactional Cleanup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120640" cy="1280160"/>
          </a:xfrm>
          <a:prstGeom prst="roundRect">
            <a:avLst>
              <a:gd name="adj" fmla="val 5714"/>
            </a:avLst>
          </a:prstGeom>
          <a:solidFill>
            <a:srgbClr val="6E2C2C"/>
          </a:solidFill>
          <a:ln/>
          <a:effectLst>
            <a:outerShdw sx="100000" sy="100000" kx="0" ky="0" algn="bl" rotWithShape="0" blurRad="76200" dist="25400" dir="5400000">
              <a:srgbClr val="1B3A3B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5727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901952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B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Deleting a User or PG Listing directly triggers foreign-key constraint violations across Bookings, Payments, Rooms, Amenities and Images.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5120640" cy="1280160"/>
          </a:xfrm>
          <a:prstGeom prst="roundRect">
            <a:avLst>
              <a:gd name="adj" fmla="val 5714"/>
            </a:avLst>
          </a:prstGeom>
          <a:solidFill>
            <a:srgbClr val="0B3D3E"/>
          </a:solidFill>
          <a:ln/>
          <a:effectLst>
            <a:outerShdw sx="100000" sy="100000" kx="0" ky="0" algn="bl" rotWithShape="0" blurRad="76200" dist="25400" dir="5400000">
              <a:srgbClr val="1B3A3B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30358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364992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@Transactional service method deletes dependent records bottom-up before the parent — guaranteeing atomic, constraint-safe cleanup.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343400"/>
            <a:ext cx="5120640" cy="1691640"/>
          </a:xfrm>
          <a:prstGeom prst="roundRect">
            <a:avLst>
              <a:gd name="adj" fmla="val 4324"/>
            </a:avLst>
          </a:prstGeom>
          <a:solidFill>
            <a:srgbClr val="F3F8F8"/>
          </a:solidFill>
          <a:ln/>
          <a:effectLst>
            <a:outerShdw sx="100000" sy="100000" kx="0" ky="0" algn="bl" rotWithShape="0" blurRad="76200" dist="25400" dir="5400000">
              <a:srgbClr val="1B3A3B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44988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4828032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orphaned rows, no constraint exceptions, and every delete either fully succeeds or fully rolls back — even under concurrent requests.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8160" y="1280160"/>
            <a:ext cx="3291840" cy="512064"/>
          </a:xfrm>
          <a:prstGeom prst="roundRect">
            <a:avLst>
              <a:gd name="adj" fmla="val 10714"/>
            </a:avLst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8138160" y="1280160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656064" y="1810512"/>
            <a:ext cx="256032" cy="137160"/>
          </a:xfrm>
          <a:prstGeom prst="downArrow">
            <a:avLst/>
          </a:prstGeom>
          <a:solidFill>
            <a:srgbClr val="5B7B7E"/>
          </a:solidFill>
          <a:ln/>
        </p:spPr>
      </p:sp>
      <p:sp>
        <p:nvSpPr>
          <p:cNvPr id="16" name="Shape 14"/>
          <p:cNvSpPr/>
          <p:nvPr/>
        </p:nvSpPr>
        <p:spPr>
          <a:xfrm>
            <a:off x="8138160" y="1965960"/>
            <a:ext cx="3291840" cy="512064"/>
          </a:xfrm>
          <a:prstGeom prst="roundRect">
            <a:avLst>
              <a:gd name="adj" fmla="val 10714"/>
            </a:avLst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8138160" y="1965960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656064" y="2496312"/>
            <a:ext cx="256032" cy="137160"/>
          </a:xfrm>
          <a:prstGeom prst="downArrow">
            <a:avLst/>
          </a:prstGeom>
          <a:solidFill>
            <a:srgbClr val="5B7B7E"/>
          </a:solidFill>
          <a:ln/>
        </p:spPr>
      </p:sp>
      <p:sp>
        <p:nvSpPr>
          <p:cNvPr id="19" name="Shape 17"/>
          <p:cNvSpPr/>
          <p:nvPr/>
        </p:nvSpPr>
        <p:spPr>
          <a:xfrm>
            <a:off x="8138160" y="2651760"/>
            <a:ext cx="3291840" cy="512064"/>
          </a:xfrm>
          <a:prstGeom prst="roundRect">
            <a:avLst>
              <a:gd name="adj" fmla="val 10714"/>
            </a:avLst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8138160" y="2651760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656064" y="3182112"/>
            <a:ext cx="256032" cy="137160"/>
          </a:xfrm>
          <a:prstGeom prst="downArrow">
            <a:avLst/>
          </a:prstGeom>
          <a:solidFill>
            <a:srgbClr val="5B7B7E"/>
          </a:solidFill>
          <a:ln/>
        </p:spPr>
      </p:sp>
      <p:sp>
        <p:nvSpPr>
          <p:cNvPr id="22" name="Shape 20"/>
          <p:cNvSpPr/>
          <p:nvPr/>
        </p:nvSpPr>
        <p:spPr>
          <a:xfrm>
            <a:off x="8138160" y="3337560"/>
            <a:ext cx="3291840" cy="512064"/>
          </a:xfrm>
          <a:prstGeom prst="roundRect">
            <a:avLst>
              <a:gd name="adj" fmla="val 10714"/>
            </a:avLst>
          </a:prstGeom>
          <a:solidFill>
            <a:srgbClr val="00A896"/>
          </a:solidFill>
          <a:ln/>
        </p:spPr>
      </p:sp>
      <p:sp>
        <p:nvSpPr>
          <p:cNvPr id="23" name="Text 21"/>
          <p:cNvSpPr/>
          <p:nvPr/>
        </p:nvSpPr>
        <p:spPr>
          <a:xfrm>
            <a:off x="8138160" y="3337560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Amenities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656064" y="3867912"/>
            <a:ext cx="256032" cy="137160"/>
          </a:xfrm>
          <a:prstGeom prst="downArrow">
            <a:avLst/>
          </a:prstGeom>
          <a:solidFill>
            <a:srgbClr val="5B7B7E"/>
          </a:solidFill>
          <a:ln/>
        </p:spPr>
      </p:sp>
      <p:sp>
        <p:nvSpPr>
          <p:cNvPr id="25" name="Shape 23"/>
          <p:cNvSpPr/>
          <p:nvPr/>
        </p:nvSpPr>
        <p:spPr>
          <a:xfrm>
            <a:off x="8138160" y="4023360"/>
            <a:ext cx="3291840" cy="512064"/>
          </a:xfrm>
          <a:prstGeom prst="roundRect">
            <a:avLst>
              <a:gd name="adj" fmla="val 10714"/>
            </a:avLst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8138160" y="4023360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656064" y="4553712"/>
            <a:ext cx="256032" cy="137160"/>
          </a:xfrm>
          <a:prstGeom prst="downArrow">
            <a:avLst/>
          </a:prstGeom>
          <a:solidFill>
            <a:srgbClr val="5B7B7E"/>
          </a:solidFill>
          <a:ln/>
        </p:spPr>
      </p:sp>
      <p:sp>
        <p:nvSpPr>
          <p:cNvPr id="28" name="Shape 26"/>
          <p:cNvSpPr/>
          <p:nvPr/>
        </p:nvSpPr>
        <p:spPr>
          <a:xfrm>
            <a:off x="8138160" y="4709160"/>
            <a:ext cx="3291840" cy="512064"/>
          </a:xfrm>
          <a:prstGeom prst="roundRect">
            <a:avLst>
              <a:gd name="adj" fmla="val 10714"/>
            </a:avLst>
          </a:prstGeom>
          <a:solidFill>
            <a:srgbClr val="00A896"/>
          </a:solidFill>
          <a:ln/>
        </p:spPr>
      </p:sp>
      <p:sp>
        <p:nvSpPr>
          <p:cNvPr id="29" name="Text 27"/>
          <p:cNvSpPr/>
          <p:nvPr/>
        </p:nvSpPr>
        <p:spPr>
          <a:xfrm>
            <a:off x="8138160" y="4709160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 Listing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656064" y="5239512"/>
            <a:ext cx="256032" cy="137160"/>
          </a:xfrm>
          <a:prstGeom prst="downArrow">
            <a:avLst/>
          </a:prstGeom>
          <a:solidFill>
            <a:srgbClr val="5B7B7E"/>
          </a:solidFill>
          <a:ln/>
        </p:spPr>
      </p:sp>
      <p:sp>
        <p:nvSpPr>
          <p:cNvPr id="31" name="Shape 29"/>
          <p:cNvSpPr/>
          <p:nvPr/>
        </p:nvSpPr>
        <p:spPr>
          <a:xfrm>
            <a:off x="8138160" y="5394960"/>
            <a:ext cx="3291840" cy="512064"/>
          </a:xfrm>
          <a:prstGeom prst="roundRect">
            <a:avLst>
              <a:gd name="adj" fmla="val 10714"/>
            </a:avLst>
          </a:prstGeom>
          <a:solidFill>
            <a:srgbClr val="028090"/>
          </a:solidFill>
          <a:ln/>
        </p:spPr>
      </p:sp>
      <p:sp>
        <p:nvSpPr>
          <p:cNvPr id="32" name="Text 30"/>
          <p:cNvSpPr/>
          <p:nvPr/>
        </p:nvSpPr>
        <p:spPr>
          <a:xfrm>
            <a:off x="8138160" y="5394960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138160" y="61264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Deletion order — leaf records first, root last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StayHub — PG Accommodation Booking &amp; Management System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Technical Challenges Solved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502920"/>
          </a:xfrm>
          <a:prstGeom prst="roundRect">
            <a:avLst>
              <a:gd name="adj" fmla="val 10909"/>
            </a:avLst>
          </a:prstGeom>
          <a:solidFill>
            <a:srgbClr val="042A2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126480" y="14173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11064240" cy="658368"/>
          </a:xfrm>
          <a:prstGeom prst="rect">
            <a:avLst/>
          </a:prstGeom>
          <a:solidFill>
            <a:srgbClr val="F3F8F8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2157984"/>
            <a:ext cx="365760" cy="365760"/>
          </a:xfrm>
          <a:prstGeom prst="ellipse">
            <a:avLst/>
          </a:prstGeom>
          <a:solidFill>
            <a:srgbClr val="D68A25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1579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201168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Infinite Recursion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46520" y="2157984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21579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49440" y="2011680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Unidirectional JPA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2670048"/>
            <a:ext cx="1106424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2816352"/>
            <a:ext cx="365760" cy="365760"/>
          </a:xfrm>
          <a:prstGeom prst="ellipse">
            <a:avLst/>
          </a:prstGeom>
          <a:solidFill>
            <a:srgbClr val="D68A25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2816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71600" y="2670048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Constraint Issues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46520" y="2816352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6446520" y="2816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49440" y="2670048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 Cleanup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3328416"/>
            <a:ext cx="11064240" cy="658368"/>
          </a:xfrm>
          <a:prstGeom prst="rect">
            <a:avLst/>
          </a:prstGeom>
          <a:solidFill>
            <a:srgbClr val="F3F8F8"/>
          </a:solidFill>
          <a:ln/>
        </p:spPr>
      </p:sp>
      <p:sp>
        <p:nvSpPr>
          <p:cNvPr id="22" name="Shape 20"/>
          <p:cNvSpPr/>
          <p:nvPr/>
        </p:nvSpPr>
        <p:spPr>
          <a:xfrm>
            <a:off x="868680" y="3474720"/>
            <a:ext cx="365760" cy="365760"/>
          </a:xfrm>
          <a:prstGeom prst="ellipse">
            <a:avLst/>
          </a:prstGeom>
          <a:solidFill>
            <a:srgbClr val="D68A25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71600" y="3328416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Security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46520" y="347472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49440" y="3328416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 Verification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3986784"/>
            <a:ext cx="1106424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868680" y="4133088"/>
            <a:ext cx="365760" cy="365760"/>
          </a:xfrm>
          <a:prstGeom prst="ellipse">
            <a:avLst/>
          </a:prstGeom>
          <a:solidFill>
            <a:srgbClr val="D68A25"/>
          </a:solidFill>
          <a:ln/>
        </p:spPr>
      </p:sp>
      <p:sp>
        <p:nvSpPr>
          <p:cNvPr id="30" name="Text 28"/>
          <p:cNvSpPr/>
          <p:nvPr/>
        </p:nvSpPr>
        <p:spPr>
          <a:xfrm>
            <a:off x="868680" y="4133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371600" y="3986784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Preservation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446520" y="4133088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3" name="Text 31"/>
          <p:cNvSpPr/>
          <p:nvPr/>
        </p:nvSpPr>
        <p:spPr>
          <a:xfrm>
            <a:off x="6446520" y="4133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949440" y="3986784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Delete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48640" y="4645152"/>
            <a:ext cx="11064240" cy="658368"/>
          </a:xfrm>
          <a:prstGeom prst="rect">
            <a:avLst/>
          </a:prstGeom>
          <a:solidFill>
            <a:srgbClr val="F3F8F8"/>
          </a:solidFill>
          <a:ln/>
        </p:spPr>
      </p:sp>
      <p:sp>
        <p:nvSpPr>
          <p:cNvPr id="36" name="Shape 34"/>
          <p:cNvSpPr/>
          <p:nvPr/>
        </p:nvSpPr>
        <p:spPr>
          <a:xfrm>
            <a:off x="868680" y="4791456"/>
            <a:ext cx="365760" cy="365760"/>
          </a:xfrm>
          <a:prstGeom prst="ellipse">
            <a:avLst/>
          </a:prstGeom>
          <a:solidFill>
            <a:srgbClr val="D68A25"/>
          </a:solidFill>
          <a:ln/>
        </p:spPr>
      </p:sp>
      <p:sp>
        <p:nvSpPr>
          <p:cNvPr id="37" name="Text 35"/>
          <p:cNvSpPr/>
          <p:nvPr/>
        </p:nvSpPr>
        <p:spPr>
          <a:xfrm>
            <a:off x="868680" y="4791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371600" y="4645152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446520" y="4791456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0" name="Text 38"/>
          <p:cNvSpPr/>
          <p:nvPr/>
        </p:nvSpPr>
        <p:spPr>
          <a:xfrm>
            <a:off x="6446520" y="4791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949440" y="4645152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HikariCP Optimization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StayHub — PG Accommodation Booking &amp; Management System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Future Enhancements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057400"/>
            <a:ext cx="10515600" cy="0"/>
          </a:xfrm>
          <a:prstGeom prst="line">
            <a:avLst/>
          </a:prstGeom>
          <a:noFill/>
          <a:ln w="25400">
            <a:solidFill>
              <a:srgbClr val="D8E7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8288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-91440" y="242316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GPS-Based PG Search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-137160" y="3035808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nearby PGs using live geolocation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34056" y="18288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2734056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048256" y="242316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Pricing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002536" y="3035808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rent suggestions from demand &amp; seasonality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73752" y="18288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4873752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87952" y="242316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Rent Payments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42232" y="3035808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recurring monthly rent collection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013448" y="18288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7013448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27648" y="242316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81928" y="3035808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Android / iOS companion apps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153144" y="18288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9153144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467344" y="242316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421624" y="3035808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dashboards with occupancy &amp; revenue insights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22960" y="4480560"/>
            <a:ext cx="10515600" cy="1645920"/>
          </a:xfrm>
          <a:prstGeom prst="roundRect">
            <a:avLst>
              <a:gd name="adj" fmla="val 4444"/>
            </a:avLst>
          </a:prstGeom>
          <a:solidFill>
            <a:srgbClr val="042A2B"/>
          </a:solidFill>
          <a:ln/>
          <a:effectLst>
            <a:outerShdw sx="100000" sy="100000" kx="0" ky="0" algn="bl" rotWithShape="0" blurRad="76200" dist="25400" dir="5400000">
              <a:srgbClr val="1B3A3B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097280" y="46451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97280" y="498348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E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campus project to a scalable rental-tech product — StayHub's architecture is designed so each of these enhancements plugs into the existing service layer without a rewrite.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StayHub — PG Accommodation Booking &amp; Management System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42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1828800"/>
            <a:ext cx="5943600" cy="5943600"/>
          </a:xfrm>
          <a:prstGeom prst="ellipse">
            <a:avLst/>
          </a:prstGeom>
          <a:solidFill>
            <a:srgbClr val="0B3D3E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3200400"/>
            <a:ext cx="5029200" cy="5029200"/>
          </a:xfrm>
          <a:prstGeom prst="ellipse">
            <a:avLst/>
          </a:prstGeom>
          <a:solidFill>
            <a:srgbClr val="0B3D3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StayHub delivers a complete</a:t>
            </a:r>
            <a:endParaRPr lang="en-US" sz="3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rental experience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62940" y="272034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662940" y="27203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25880" y="2715768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PG discovery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20540" y="272034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4320540" y="27203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83480" y="2715768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booking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78140" y="272034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7978140" y="27203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41080" y="2715768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inventory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62940" y="358902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662940" y="35890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25880" y="3584448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verification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320540" y="358902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4320540" y="35890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83480" y="3584448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security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978140" y="358902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7978140" y="35890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641080" y="3584448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architecture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4709160"/>
            <a:ext cx="10881360" cy="0"/>
          </a:xfrm>
          <a:prstGeom prst="line">
            <a:avLst/>
          </a:prstGeom>
          <a:noFill/>
          <a:ln w="12700">
            <a:solidFill>
              <a:srgbClr val="1551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0292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2C39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26" name="Text 24"/>
          <p:cNvSpPr/>
          <p:nvPr/>
        </p:nvSpPr>
        <p:spPr>
          <a:xfrm>
            <a:off x="640080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StayHub — PG Accommodation Booking and Management System   |   Group No. 15   |   PG-DAC March 2024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2026-08-09T20:30:30Z</dcterms:created>
  <dcterms:modified xsi:type="dcterms:W3CDTF">2026-08-09T20:30:30Z</dcterms:modified>
</cp:coreProperties>
</file>